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Arial Bold" panose="020B0704020202020204" pitchFamily="34" charset="0"/>
      <p:regular r:id="rId24"/>
      <p:bold r:id="rId25"/>
    </p:embeddedFont>
    <p:embeddedFont>
      <p:font typeface="Noto Sans Bold" panose="020B0604020202020204" charset="0"/>
      <p:regular r:id="rId26"/>
    </p:embeddedFont>
    <p:embeddedFont>
      <p:font typeface="Times New Roman Bold" panose="02020803070505020304" pitchFamily="18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63187" y="10082211"/>
            <a:ext cx="15624814" cy="204843"/>
            <a:chOff x="0" y="0"/>
            <a:chExt cx="20833086" cy="2731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273177"/>
            </a:xfrm>
            <a:custGeom>
              <a:avLst/>
              <a:gdLst/>
              <a:ahLst/>
              <a:cxnLst/>
              <a:rect l="l" t="t" r="r" b="b"/>
              <a:pathLst>
                <a:path w="20833080" h="273177">
                  <a:moveTo>
                    <a:pt x="239522" y="0"/>
                  </a:moveTo>
                  <a:lnTo>
                    <a:pt x="20833080" y="0"/>
                  </a:lnTo>
                  <a:lnTo>
                    <a:pt x="20833080" y="266446"/>
                  </a:lnTo>
                  <a:lnTo>
                    <a:pt x="0" y="273177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743239" y="10108763"/>
            <a:ext cx="15544722" cy="152709"/>
            <a:chOff x="0" y="0"/>
            <a:chExt cx="20726296" cy="2036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203581"/>
            </a:xfrm>
            <a:custGeom>
              <a:avLst/>
              <a:gdLst/>
              <a:ahLst/>
              <a:cxnLst/>
              <a:rect l="l" t="t" r="r" b="b"/>
              <a:pathLst>
                <a:path w="20726273" h="203581">
                  <a:moveTo>
                    <a:pt x="0" y="0"/>
                  </a:moveTo>
                  <a:lnTo>
                    <a:pt x="20726273" y="0"/>
                  </a:lnTo>
                  <a:lnTo>
                    <a:pt x="20726273" y="203581"/>
                  </a:lnTo>
                  <a:lnTo>
                    <a:pt x="0" y="203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357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15240" y="7567611"/>
            <a:ext cx="18303240" cy="2514600"/>
            <a:chOff x="0" y="0"/>
            <a:chExt cx="24404320" cy="3352800"/>
          </a:xfrm>
        </p:grpSpPr>
        <p:sp>
          <p:nvSpPr>
            <p:cNvPr id="9" name="Freeform 9" descr="A building with trees in the background  Description automatically generated"/>
            <p:cNvSpPr/>
            <p:nvPr/>
          </p:nvSpPr>
          <p:spPr>
            <a:xfrm>
              <a:off x="0" y="0"/>
              <a:ext cx="24404320" cy="3352800"/>
            </a:xfrm>
            <a:custGeom>
              <a:avLst/>
              <a:gdLst/>
              <a:ahLst/>
              <a:cxnLst/>
              <a:rect l="l" t="t" r="r" b="b"/>
              <a:pathLst>
                <a:path w="24404320" h="3352800">
                  <a:moveTo>
                    <a:pt x="0" y="0"/>
                  </a:moveTo>
                  <a:lnTo>
                    <a:pt x="24404320" y="0"/>
                  </a:lnTo>
                  <a:lnTo>
                    <a:pt x="24404320" y="3352800"/>
                  </a:lnTo>
                  <a:lnTo>
                    <a:pt x="0" y="33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633" b="-1663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910017" y="74794"/>
            <a:ext cx="10452725" cy="89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BỘ CÔNG THƯƠNG</a:t>
            </a:r>
          </a:p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TRƯỜNG ĐẠI HỌC CÔNG THƯƠNG THÀNH PHỐ HỒ CHÍ MINH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4200" y="27092"/>
            <a:ext cx="999000" cy="999000"/>
            <a:chOff x="0" y="0"/>
            <a:chExt cx="1332000" cy="1332000"/>
          </a:xfrm>
        </p:grpSpPr>
        <p:sp>
          <p:nvSpPr>
            <p:cNvPr id="12" name="Freeform 12" descr="A white circle with blue and red text and a book with a graduation cap  Description automatically generated"/>
            <p:cNvSpPr/>
            <p:nvPr/>
          </p:nvSpPr>
          <p:spPr>
            <a:xfrm>
              <a:off x="0" y="0"/>
              <a:ext cx="1331976" cy="1331976"/>
            </a:xfrm>
            <a:custGeom>
              <a:avLst/>
              <a:gdLst/>
              <a:ahLst/>
              <a:cxnLst/>
              <a:rect l="l" t="t" r="r" b="b"/>
              <a:pathLst>
                <a:path w="1331976" h="1331976">
                  <a:moveTo>
                    <a:pt x="0" y="0"/>
                  </a:moveTo>
                  <a:lnTo>
                    <a:pt x="1331976" y="0"/>
                  </a:lnTo>
                  <a:lnTo>
                    <a:pt x="1331976" y="1331976"/>
                  </a:lnTo>
                  <a:lnTo>
                    <a:pt x="0" y="1331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15240" y="1171643"/>
            <a:ext cx="18105120" cy="2194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1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KHOA CÔNG NGHỆ THÔNG TIN </a:t>
            </a:r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6549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BÁO CÁO KHÓA LUẬN CỬ NHÂN </a:t>
            </a:r>
          </a:p>
          <a:p>
            <a:pPr algn="ctr">
              <a:lnSpc>
                <a:spcPts val="5616"/>
              </a:lnSpc>
            </a:pPr>
            <a:r>
              <a:rPr lang="en-US" sz="3600" b="1">
                <a:solidFill>
                  <a:srgbClr val="06549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ĐỀ TÀI: XÂY DỰNG WEB BÁN HÀNG TẠI CÔNG TY CEN TP.HCM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6280" y="3727321"/>
            <a:ext cx="8078145" cy="1167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Giáo viên hướng dẫn : ThS Nguyễn Thị Thu Tâm</a:t>
            </a:r>
          </a:p>
          <a:p>
            <a:pPr algn="l">
              <a:lnSpc>
                <a:spcPts val="468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Nhóm thực hiện</a:t>
            </a: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9742378" y="5037961"/>
          <a:ext cx="6877176" cy="2371725"/>
        </p:xfrm>
        <a:graphic>
          <a:graphicData uri="http://schemas.openxmlformats.org/drawingml/2006/table">
            <a:tbl>
              <a:tblPr/>
              <a:tblGrid>
                <a:gridCol w="753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7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5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Trương Minh Thoại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2001221011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Nguyễn Công Huy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2001221691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0575">
                <a:tc>
                  <a:txBody>
                    <a:bodyPr/>
                    <a:lstStyle/>
                    <a:p>
                      <a:pPr algn="ctr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3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Đinh Bảo Toàn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140"/>
                        </a:lnSpc>
                        <a:defRPr/>
                      </a:pPr>
                      <a:r>
                        <a:rPr lang="en-US" sz="3000" b="1">
                          <a:solidFill>
                            <a:srgbClr val="354253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2001224459 </a:t>
                      </a:r>
                      <a:endParaRPr lang="en-US" sz="1100"/>
                    </a:p>
                  </a:txBody>
                  <a:tcPr marL="91425" marR="91425" marT="91425" marB="91425" anchor="ctr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NỘI DUNG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945727" y="1952954"/>
            <a:ext cx="969409" cy="96940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63500" y="-22225"/>
              <a:ext cx="685800" cy="77152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945727" y="3133900"/>
            <a:ext cx="969409" cy="969409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63500" y="-22225"/>
              <a:ext cx="685800" cy="77152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45727" y="4314845"/>
            <a:ext cx="969409" cy="96940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63500" y="-22225"/>
              <a:ext cx="685800" cy="77152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45727" y="5495791"/>
            <a:ext cx="969409" cy="96940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63500" y="-22225"/>
              <a:ext cx="685800" cy="77152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45727" y="6676737"/>
            <a:ext cx="969409" cy="969409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63500" y="-22225"/>
              <a:ext cx="685800" cy="77152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945727" y="7857683"/>
            <a:ext cx="969409" cy="969409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2780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652780"/>
                  </a:lnTo>
                  <a:lnTo>
                    <a:pt x="160020" y="812800"/>
                  </a:lnTo>
                  <a:lnTo>
                    <a:pt x="652780" y="812800"/>
                  </a:lnTo>
                  <a:lnTo>
                    <a:pt x="812800" y="652780"/>
                  </a:lnTo>
                  <a:lnTo>
                    <a:pt x="812800" y="160020"/>
                  </a:lnTo>
                  <a:lnTo>
                    <a:pt x="652780" y="0"/>
                  </a:lnTo>
                  <a:close/>
                </a:path>
              </a:pathLst>
            </a:custGeom>
            <a:solidFill>
              <a:srgbClr val="0345E4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63500" y="-22225"/>
              <a:ext cx="685800" cy="771525"/>
            </a:xfrm>
            <a:prstGeom prst="rect">
              <a:avLst/>
            </a:prstGeom>
          </p:spPr>
          <p:txBody>
            <a:bodyPr lIns="44470" tIns="44470" rIns="44470" bIns="44470" rtlCol="0" anchor="ctr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06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134437" y="2123333"/>
            <a:ext cx="735182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Mở đầu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34437" y="3304279"/>
            <a:ext cx="735182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Khảo sát hệ thống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34437" y="4485225"/>
            <a:ext cx="735182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Phân tích hệ thống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34437" y="5666171"/>
            <a:ext cx="735182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hệ thống &amp; CSDL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34437" y="6847117"/>
            <a:ext cx="735182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Công nghệ sử dụng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34437" y="8028062"/>
            <a:ext cx="7351823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 &amp; Hướng phát triển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63187" y="9780586"/>
            <a:ext cx="15624814" cy="506468"/>
            <a:chOff x="0" y="0"/>
            <a:chExt cx="20833086" cy="6752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675344"/>
            </a:xfrm>
            <a:custGeom>
              <a:avLst/>
              <a:gdLst/>
              <a:ahLst/>
              <a:cxnLst/>
              <a:rect l="l" t="t" r="r" b="b"/>
              <a:pathLst>
                <a:path w="20833080" h="675344">
                  <a:moveTo>
                    <a:pt x="239522" y="0"/>
                  </a:moveTo>
                  <a:lnTo>
                    <a:pt x="20833080" y="0"/>
                  </a:lnTo>
                  <a:lnTo>
                    <a:pt x="20833080" y="658779"/>
                  </a:lnTo>
                  <a:lnTo>
                    <a:pt x="0" y="675344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743239" y="9846234"/>
            <a:ext cx="15544722" cy="377568"/>
            <a:chOff x="0" y="0"/>
            <a:chExt cx="20726296" cy="5034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503348"/>
            </a:xfrm>
            <a:custGeom>
              <a:avLst/>
              <a:gdLst/>
              <a:ahLst/>
              <a:cxnLst/>
              <a:rect l="l" t="t" r="r" b="b"/>
              <a:pathLst>
                <a:path w="20726273" h="503348">
                  <a:moveTo>
                    <a:pt x="0" y="0"/>
                  </a:moveTo>
                  <a:lnTo>
                    <a:pt x="20726273" y="0"/>
                  </a:lnTo>
                  <a:lnTo>
                    <a:pt x="20726273" y="503348"/>
                  </a:lnTo>
                  <a:lnTo>
                    <a:pt x="0" y="50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623" r="-73623" b="-357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9" name="Freeform 9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47776" y="2564610"/>
            <a:ext cx="15773400" cy="4279106"/>
            <a:chOff x="0" y="0"/>
            <a:chExt cx="21031200" cy="57054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5705474"/>
            </a:xfrm>
            <a:custGeom>
              <a:avLst/>
              <a:gdLst/>
              <a:ahLst/>
              <a:cxnLst/>
              <a:rect l="l" t="t" r="r" b="b"/>
              <a:pathLst>
                <a:path w="21031200" h="5705474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21031200" cy="56483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720"/>
                </a:lnSpc>
              </a:pPr>
              <a:r>
                <a:rPr lang="en-US" sz="9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1. GIỚI THIỆU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02224" y="-6441776"/>
            <a:ext cx="12883553" cy="1288355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949019" y="-5010643"/>
            <a:ext cx="11069128" cy="11055291"/>
          </a:xfrm>
          <a:custGeom>
            <a:avLst/>
            <a:gdLst/>
            <a:ahLst/>
            <a:cxnLst/>
            <a:rect l="l" t="t" r="r" b="b"/>
            <a:pathLst>
              <a:path w="11069128" h="11055291">
                <a:moveTo>
                  <a:pt x="0" y="0"/>
                </a:moveTo>
                <a:lnTo>
                  <a:pt x="11069128" y="0"/>
                </a:lnTo>
                <a:lnTo>
                  <a:pt x="11069128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690946" y="-5453054"/>
            <a:ext cx="10906108" cy="1090610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12" name="Freeform 12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5504967" y="-135255"/>
            <a:ext cx="12691595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GIỚI THIỆU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52695" y="2898581"/>
            <a:ext cx="4582611" cy="7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>
                <a:solidFill>
                  <a:srgbClr val="1F20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Lý do chọn đề tài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628" y="5648297"/>
            <a:ext cx="5139841" cy="2819922"/>
            <a:chOff x="0" y="0"/>
            <a:chExt cx="1052050" cy="5771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539900" y="6115071"/>
            <a:ext cx="2063297" cy="43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2072B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Bối cảnh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45194" y="6747006"/>
            <a:ext cx="4139657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mại điện tử phát triển mạnh, ngành hóa chất cần ứng dụng CNTT để tối ưu quản lý 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6574080" y="6409107"/>
            <a:ext cx="5139841" cy="2819922"/>
            <a:chOff x="0" y="0"/>
            <a:chExt cx="1052050" cy="5771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2072B7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112352" y="6808319"/>
            <a:ext cx="2063297" cy="43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Thực trạng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52695" y="7498291"/>
            <a:ext cx="4582611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Nhiều doanh nghiệp vẫn quản lý thủ công (sổ sách, Excel), dẫn đến sai sót tồn kho, khó quản lý đơn hàng và thiếu an toàn thông tin 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146531" y="5648297"/>
            <a:ext cx="5139841" cy="2819922"/>
            <a:chOff x="0" y="0"/>
            <a:chExt cx="1052050" cy="57719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3986498" y="6115071"/>
            <a:ext cx="2063297" cy="43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2072B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Giải pháp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99745" y="6737481"/>
            <a:ext cx="441308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F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hệ thống website và ứng dụng di động để hiện đại hóa quy trình kinh doanh.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GIỚI THIỆU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0115" y="3297555"/>
            <a:ext cx="16447770" cy="409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3459" lvl="1" indent="-516729" algn="just">
              <a:lnSpc>
                <a:spcPts val="545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Website và App Mobile cho công ty CEN TP.HCM.</a:t>
            </a:r>
          </a:p>
          <a:p>
            <a:pPr marL="1033459" lvl="1" indent="-516729" algn="just">
              <a:lnSpc>
                <a:spcPts val="545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Chức năng chính:</a:t>
            </a:r>
          </a:p>
          <a:p>
            <a:pPr marL="1833556" lvl="2" indent="-61118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Trưng bày, tìm kiếm sản phẩm, quản lý khuyến mãi.</a:t>
            </a:r>
          </a:p>
          <a:p>
            <a:pPr marL="1833556" lvl="2" indent="-61118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hàng trực tuyến, thanh toán điện tử, theo dõi đơn hàng.</a:t>
            </a:r>
          </a:p>
          <a:p>
            <a:pPr marL="1833556" lvl="2" indent="-61118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Quản lý kho, nhập/xuất hàng, báo cáo doanh thu, công nợ.</a:t>
            </a:r>
          </a:p>
          <a:p>
            <a:pPr marL="1833556" lvl="2" indent="-61118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 hợp Chatbot hỗ trợ khách hàng.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2695" y="1792403"/>
            <a:ext cx="4582611" cy="7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>
                <a:solidFill>
                  <a:srgbClr val="1F20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Mục tiêu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3982363"/>
            <a:ext cx="13240663" cy="1324066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425354" y="-2511561"/>
            <a:ext cx="11375945" cy="11361725"/>
          </a:xfrm>
          <a:custGeom>
            <a:avLst/>
            <a:gdLst/>
            <a:ahLst/>
            <a:cxnLst/>
            <a:rect l="l" t="t" r="r" b="b"/>
            <a:pathLst>
              <a:path w="11375945" h="1136172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160128" y="-2966235"/>
            <a:ext cx="11208407" cy="1120840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12" name="Freeform 12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GIỚI THIỆU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81096" y="3965136"/>
            <a:ext cx="3948976" cy="79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sz="4560" b="1">
                <a:solidFill>
                  <a:srgbClr val="1F202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Phạm vi đề tài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828563" y="2023242"/>
            <a:ext cx="5139841" cy="2819922"/>
            <a:chOff x="0" y="0"/>
            <a:chExt cx="1052050" cy="5771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28563" y="5443836"/>
            <a:ext cx="5139841" cy="2240294"/>
            <a:chOff x="0" y="0"/>
            <a:chExt cx="1052050" cy="4585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2050" cy="458555"/>
            </a:xfrm>
            <a:custGeom>
              <a:avLst/>
              <a:gdLst/>
              <a:ahLst/>
              <a:cxnLst/>
              <a:rect l="l" t="t" r="r" b="b"/>
              <a:pathLst>
                <a:path w="1052050" h="458555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383243"/>
                  </a:lnTo>
                  <a:cubicBezTo>
                    <a:pt x="1052050" y="424837"/>
                    <a:pt x="1018332" y="458555"/>
                    <a:pt x="976737" y="458555"/>
                  </a:cubicBezTo>
                  <a:lnTo>
                    <a:pt x="75313" y="458555"/>
                  </a:lnTo>
                  <a:cubicBezTo>
                    <a:pt x="33719" y="458555"/>
                    <a:pt x="0" y="424837"/>
                    <a:pt x="0" y="383243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52050" cy="496655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590208" y="5443836"/>
            <a:ext cx="5139841" cy="2240294"/>
            <a:chOff x="0" y="0"/>
            <a:chExt cx="1052050" cy="45855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2050" cy="458555"/>
            </a:xfrm>
            <a:custGeom>
              <a:avLst/>
              <a:gdLst/>
              <a:ahLst/>
              <a:cxnLst/>
              <a:rect l="l" t="t" r="r" b="b"/>
              <a:pathLst>
                <a:path w="1052050" h="458555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383243"/>
                  </a:lnTo>
                  <a:cubicBezTo>
                    <a:pt x="1052050" y="424837"/>
                    <a:pt x="1018332" y="458555"/>
                    <a:pt x="976737" y="458555"/>
                  </a:cubicBezTo>
                  <a:lnTo>
                    <a:pt x="75313" y="458555"/>
                  </a:lnTo>
                  <a:cubicBezTo>
                    <a:pt x="33719" y="458555"/>
                    <a:pt x="0" y="424837"/>
                    <a:pt x="0" y="383243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52050" cy="496655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3706616" y="2204766"/>
            <a:ext cx="1383733" cy="43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07549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Sản phẩm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12103" y="3112426"/>
            <a:ext cx="3803070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F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Hóa chất phổ biến trong kinh doanh, phòng thí nghiệm (không bao gồm hóa chất đặc biệt nguy hiểm cần cấp phép đặc thù) 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556713" y="5767089"/>
            <a:ext cx="1683541" cy="43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07549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Người dùng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12103" y="6533021"/>
            <a:ext cx="3803070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1F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Khách hàng cá nhân/doanh nghiệp và Quản trị viên/Nhân viên 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62076" y="5950352"/>
            <a:ext cx="1326556" cy="43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sz="2444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Nền tảng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28612" y="6533021"/>
            <a:ext cx="3863031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(ASP.NET) và Mobile App (Android/Flutter).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63187" y="9780586"/>
            <a:ext cx="15624814" cy="506468"/>
            <a:chOff x="0" y="0"/>
            <a:chExt cx="20833086" cy="6752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675344"/>
            </a:xfrm>
            <a:custGeom>
              <a:avLst/>
              <a:gdLst/>
              <a:ahLst/>
              <a:cxnLst/>
              <a:rect l="l" t="t" r="r" b="b"/>
              <a:pathLst>
                <a:path w="20833080" h="675344">
                  <a:moveTo>
                    <a:pt x="239522" y="0"/>
                  </a:moveTo>
                  <a:lnTo>
                    <a:pt x="20833080" y="0"/>
                  </a:lnTo>
                  <a:lnTo>
                    <a:pt x="20833080" y="658779"/>
                  </a:lnTo>
                  <a:lnTo>
                    <a:pt x="0" y="675344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743239" y="9846234"/>
            <a:ext cx="15544722" cy="377568"/>
            <a:chOff x="0" y="0"/>
            <a:chExt cx="20726296" cy="5034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503348"/>
            </a:xfrm>
            <a:custGeom>
              <a:avLst/>
              <a:gdLst/>
              <a:ahLst/>
              <a:cxnLst/>
              <a:rect l="l" t="t" r="r" b="b"/>
              <a:pathLst>
                <a:path w="20726273" h="503348">
                  <a:moveTo>
                    <a:pt x="0" y="0"/>
                  </a:moveTo>
                  <a:lnTo>
                    <a:pt x="20726273" y="0"/>
                  </a:lnTo>
                  <a:lnTo>
                    <a:pt x="20726273" y="503348"/>
                  </a:lnTo>
                  <a:lnTo>
                    <a:pt x="0" y="50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623" r="-73623" b="-357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9" name="Freeform 9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47777" y="2564610"/>
            <a:ext cx="15773400" cy="4279106"/>
            <a:chOff x="0" y="0"/>
            <a:chExt cx="21031200" cy="57054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5705474"/>
            </a:xfrm>
            <a:custGeom>
              <a:avLst/>
              <a:gdLst/>
              <a:ahLst/>
              <a:cxnLst/>
              <a:rect l="l" t="t" r="r" b="b"/>
              <a:pathLst>
                <a:path w="21031200" h="5705474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21031200" cy="56483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720"/>
                </a:lnSpc>
              </a:pPr>
              <a:r>
                <a:rPr lang="en-US" sz="9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2. KHẢO SÁT HỆ THỐNG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/>
          <p:cNvSpPr/>
          <p:nvPr/>
        </p:nvSpPr>
        <p:spPr>
          <a:xfrm>
            <a:off x="12525811" y="3483453"/>
            <a:ext cx="4733489" cy="4225664"/>
          </a:xfrm>
          <a:custGeom>
            <a:avLst/>
            <a:gdLst/>
            <a:ahLst/>
            <a:cxnLst/>
            <a:rect l="l" t="t" r="r" b="b"/>
            <a:pathLst>
              <a:path w="4733489" h="4225664">
                <a:moveTo>
                  <a:pt x="0" y="0"/>
                </a:moveTo>
                <a:lnTo>
                  <a:pt x="4733489" y="0"/>
                </a:lnTo>
                <a:lnTo>
                  <a:pt x="4733489" y="4225664"/>
                </a:lnTo>
                <a:lnTo>
                  <a:pt x="0" y="42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244" b="-3408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04967" y="-135255"/>
            <a:ext cx="12691595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KHẢO SÁT HỆ THỐNG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186349"/>
            <a:ext cx="9876149" cy="708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672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Giới thiệu chung:</a:t>
            </a:r>
          </a:p>
          <a:p>
            <a:pPr marL="1381764" lvl="2" indent="-460588" algn="just">
              <a:lnSpc>
                <a:spcPts val="467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Thành lập năm 2002, là một trong những tập đoàn hóa chất hàng đầu tại Việt Nam.</a:t>
            </a:r>
          </a:p>
          <a:p>
            <a:pPr marL="1381764" lvl="2" indent="-460588" algn="just">
              <a:lnSpc>
                <a:spcPts val="467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Trải qua 23 năm hình thành và phát triển, công ty đã khẳng định được uy tín và năng lực cung ứng trên thị trường.</a:t>
            </a:r>
          </a:p>
          <a:p>
            <a:pPr marL="690882" lvl="1" indent="-345441" algn="just">
              <a:lnSpc>
                <a:spcPts val="4672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Lĩnh vực hoạt động: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Cung cấp hóa chất chất lượng cao cho các ngành công nghiệp chủ chốt: Dược phẩm, Mỹ phẩm, Thực phẩm, Nuôi trồng và chế biến thủy sản, Thức ăn chăn nuôi, và Công nghiệp.</a:t>
            </a:r>
          </a:p>
          <a:p>
            <a:pPr marL="690882" lvl="1" indent="-345441" algn="just">
              <a:lnSpc>
                <a:spcPts val="4672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Địa chỉ trụ sở chính: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57 Nguyễn Cơ Thạch, An Khánh, TP. Thủ Đức, TP.HCM.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76709" y="1142013"/>
            <a:ext cx="6627972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Công ty TNHH CEN Tp.HCM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/>
          <p:cNvSpPr/>
          <p:nvPr/>
        </p:nvSpPr>
        <p:spPr>
          <a:xfrm>
            <a:off x="12525811" y="3483453"/>
            <a:ext cx="4733489" cy="4225664"/>
          </a:xfrm>
          <a:custGeom>
            <a:avLst/>
            <a:gdLst/>
            <a:ahLst/>
            <a:cxnLst/>
            <a:rect l="l" t="t" r="r" b="b"/>
            <a:pathLst>
              <a:path w="4733489" h="4225664">
                <a:moveTo>
                  <a:pt x="0" y="0"/>
                </a:moveTo>
                <a:lnTo>
                  <a:pt x="4733489" y="0"/>
                </a:lnTo>
                <a:lnTo>
                  <a:pt x="4733489" y="4225664"/>
                </a:lnTo>
                <a:lnTo>
                  <a:pt x="0" y="4225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4244" b="-3408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04967" y="-135255"/>
            <a:ext cx="12691595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KHẢO SÁT HỆ THỐNG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76709" y="1142013"/>
            <a:ext cx="6627972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Công ty TNHH CEN Tp.HCM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172589"/>
            <a:ext cx="11010894" cy="708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72"/>
              </a:lnSpc>
            </a:pPr>
            <a:endParaRPr/>
          </a:p>
          <a:p>
            <a:pPr marL="690882" lvl="1" indent="-345441" algn="just">
              <a:lnSpc>
                <a:spcPts val="4672"/>
              </a:lnSpc>
              <a:buFont typeface="Arial"/>
              <a:buChar char="•"/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Hoạt động sản xuất và kinh doanh:</a:t>
            </a:r>
          </a:p>
          <a:p>
            <a:pPr marL="1381764" lvl="2" indent="-460588" algn="just">
              <a:lnSpc>
                <a:spcPts val="467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đại lý chính thức của các thương hiệu hóa chất lớn trên thế giới như: Dow Chemical, Dupont, Solvay, Kuraray.</a:t>
            </a:r>
          </a:p>
          <a:p>
            <a:pPr marL="1381764" lvl="2" indent="-460588" algn="just">
              <a:lnSpc>
                <a:spcPts val="467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Thực hiện sứ mệnh đưa hàng hóa thế giới vào Việt Nam và mang sản phẩm Việt Nam ra thế giới thông qua các kênh phân phối chuyên nghiệp.</a:t>
            </a:r>
          </a:p>
          <a:p>
            <a:pPr marL="1381764" lvl="2" indent="-460588" algn="just">
              <a:lnSpc>
                <a:spcPts val="467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Cung cấp dịch vụ toàn diện bao gồm: nhập khẩu, đảm bảo tính pháp lý, quy trình bảo quản, tồn trữ và vận chuyển hóa chất an toàn.</a:t>
            </a:r>
          </a:p>
          <a:p>
            <a:pPr marL="1381764" lvl="2" indent="-460588" algn="just">
              <a:lnSpc>
                <a:spcPts val="4672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Mạng lưới chi nhánh rộng khắp: Hà Nội, Bắc Ninh, Đà Nẵng, Nha Trang, TP.HCM và Cần Thơ.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/>
          <p:cNvSpPr/>
          <p:nvPr/>
        </p:nvSpPr>
        <p:spPr>
          <a:xfrm>
            <a:off x="4514024" y="3859809"/>
            <a:ext cx="5387522" cy="6356958"/>
          </a:xfrm>
          <a:custGeom>
            <a:avLst/>
            <a:gdLst/>
            <a:ahLst/>
            <a:cxnLst/>
            <a:rect l="l" t="t" r="r" b="b"/>
            <a:pathLst>
              <a:path w="5387522" h="6356958">
                <a:moveTo>
                  <a:pt x="0" y="0"/>
                </a:moveTo>
                <a:lnTo>
                  <a:pt x="5387523" y="0"/>
                </a:lnTo>
                <a:lnTo>
                  <a:pt x="538752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7042" y="3785090"/>
            <a:ext cx="5411361" cy="6356958"/>
          </a:xfrm>
          <a:custGeom>
            <a:avLst/>
            <a:gdLst/>
            <a:ahLst/>
            <a:cxnLst/>
            <a:rect l="l" t="t" r="r" b="b"/>
            <a:pathLst>
              <a:path w="5411361" h="6356958">
                <a:moveTo>
                  <a:pt x="0" y="0"/>
                </a:moveTo>
                <a:lnTo>
                  <a:pt x="5411360" y="0"/>
                </a:lnTo>
                <a:lnTo>
                  <a:pt x="541136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KHẢO SÁT NGHIỆP VỤ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" y="1148697"/>
            <a:ext cx="18089880" cy="51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3416" lvl="1" indent="-316708" algn="l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Quy trình bán hàng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953080" y="1841355"/>
            <a:ext cx="12224200" cy="1257762"/>
            <a:chOff x="0" y="0"/>
            <a:chExt cx="16298933" cy="16770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98933" cy="1677016"/>
            </a:xfrm>
            <a:custGeom>
              <a:avLst/>
              <a:gdLst/>
              <a:ahLst/>
              <a:cxnLst/>
              <a:rect l="l" t="t" r="r" b="b"/>
              <a:pathLst>
                <a:path w="16298933" h="1677016">
                  <a:moveTo>
                    <a:pt x="0" y="0"/>
                  </a:moveTo>
                  <a:lnTo>
                    <a:pt x="16298933" y="0"/>
                  </a:lnTo>
                  <a:lnTo>
                    <a:pt x="16298933" y="1677016"/>
                  </a:lnTo>
                  <a:lnTo>
                    <a:pt x="0" y="1677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73207" y="202438"/>
              <a:ext cx="2158775" cy="1140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Tiếp nhận yêu cầu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31669" y="202438"/>
              <a:ext cx="2212074" cy="1140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Kiểm tra kho/Báo giá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83275" y="234950"/>
              <a:ext cx="1732382" cy="1140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Ký hợp đồng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38058" y="260350"/>
              <a:ext cx="1732382" cy="1140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Giao hàng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707140" y="260350"/>
              <a:ext cx="1732382" cy="1140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Thanh toán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6682" y="3158980"/>
            <a:ext cx="18089880" cy="118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3416" lvl="1" indent="-316708" algn="l">
              <a:lnSpc>
                <a:spcPts val="469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Hạn chế: Quy trình thủ công, khó theo dõi công nợ và tồn kho tức thời.</a:t>
            </a:r>
          </a:p>
          <a:p>
            <a:pPr marL="633416" lvl="1" indent="-316708" algn="l">
              <a:lnSpc>
                <a:spcPts val="469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Biểu mẫu sử dụng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63187" y="9780586"/>
            <a:ext cx="15624814" cy="506468"/>
            <a:chOff x="0" y="0"/>
            <a:chExt cx="20833086" cy="6752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675344"/>
            </a:xfrm>
            <a:custGeom>
              <a:avLst/>
              <a:gdLst/>
              <a:ahLst/>
              <a:cxnLst/>
              <a:rect l="l" t="t" r="r" b="b"/>
              <a:pathLst>
                <a:path w="20833080" h="675344">
                  <a:moveTo>
                    <a:pt x="239522" y="0"/>
                  </a:moveTo>
                  <a:lnTo>
                    <a:pt x="20833080" y="0"/>
                  </a:lnTo>
                  <a:lnTo>
                    <a:pt x="20833080" y="658779"/>
                  </a:lnTo>
                  <a:lnTo>
                    <a:pt x="0" y="675344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743239" y="9846234"/>
            <a:ext cx="15544722" cy="377568"/>
            <a:chOff x="0" y="0"/>
            <a:chExt cx="20726296" cy="5034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503348"/>
            </a:xfrm>
            <a:custGeom>
              <a:avLst/>
              <a:gdLst/>
              <a:ahLst/>
              <a:cxnLst/>
              <a:rect l="l" t="t" r="r" b="b"/>
              <a:pathLst>
                <a:path w="20726273" h="503348">
                  <a:moveTo>
                    <a:pt x="0" y="0"/>
                  </a:moveTo>
                  <a:lnTo>
                    <a:pt x="20726273" y="0"/>
                  </a:lnTo>
                  <a:lnTo>
                    <a:pt x="20726273" y="503348"/>
                  </a:lnTo>
                  <a:lnTo>
                    <a:pt x="0" y="50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623" r="-73623" b="-357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9" name="Freeform 9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47776" y="2564610"/>
            <a:ext cx="15773400" cy="4279106"/>
            <a:chOff x="0" y="0"/>
            <a:chExt cx="21031200" cy="57054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5705474"/>
            </a:xfrm>
            <a:custGeom>
              <a:avLst/>
              <a:gdLst/>
              <a:ahLst/>
              <a:cxnLst/>
              <a:rect l="l" t="t" r="r" b="b"/>
              <a:pathLst>
                <a:path w="21031200" h="5705474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21031200" cy="56483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720"/>
                </a:lnSpc>
              </a:pPr>
              <a:r>
                <a:rPr lang="en-US" sz="9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3. PHÂN TÍCH HỆ THỐNG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20650" y="643201"/>
            <a:ext cx="11446701" cy="9758312"/>
          </a:xfrm>
          <a:custGeom>
            <a:avLst/>
            <a:gdLst/>
            <a:ahLst/>
            <a:cxnLst/>
            <a:rect l="l" t="t" r="r" b="b"/>
            <a:pathLst>
              <a:path w="11446701" h="9758312">
                <a:moveTo>
                  <a:pt x="0" y="0"/>
                </a:moveTo>
                <a:lnTo>
                  <a:pt x="11446700" y="0"/>
                </a:lnTo>
                <a:lnTo>
                  <a:pt x="11446700" y="9758312"/>
                </a:lnTo>
                <a:lnTo>
                  <a:pt x="0" y="975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6" name="Freeform 6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CASE NGHIỆP VỤ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/>
          <p:cNvSpPr/>
          <p:nvPr/>
        </p:nvSpPr>
        <p:spPr>
          <a:xfrm>
            <a:off x="3558704" y="1057376"/>
            <a:ext cx="11870266" cy="8665294"/>
          </a:xfrm>
          <a:custGeom>
            <a:avLst/>
            <a:gdLst/>
            <a:ahLst/>
            <a:cxnLst/>
            <a:rect l="l" t="t" r="r" b="b"/>
            <a:pathLst>
              <a:path w="11870266" h="8665294">
                <a:moveTo>
                  <a:pt x="0" y="0"/>
                </a:moveTo>
                <a:lnTo>
                  <a:pt x="11870266" y="0"/>
                </a:lnTo>
                <a:lnTo>
                  <a:pt x="11870266" y="8665294"/>
                </a:lnTo>
                <a:lnTo>
                  <a:pt x="0" y="86652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 CASE HỆ THỐNG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5" y="9744016"/>
            <a:ext cx="15624814" cy="526343"/>
            <a:chOff x="0" y="0"/>
            <a:chExt cx="20833086" cy="7017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01789"/>
            </a:xfrm>
            <a:custGeom>
              <a:avLst/>
              <a:gdLst/>
              <a:ahLst/>
              <a:cxnLst/>
              <a:rect l="l" t="t" r="r" b="b"/>
              <a:pathLst>
                <a:path w="20833080" h="701789">
                  <a:moveTo>
                    <a:pt x="239522" y="0"/>
                  </a:moveTo>
                  <a:lnTo>
                    <a:pt x="20833080" y="0"/>
                  </a:lnTo>
                  <a:lnTo>
                    <a:pt x="20833080" y="684458"/>
                  </a:lnTo>
                  <a:lnTo>
                    <a:pt x="0" y="701789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/>
          <p:cNvSpPr/>
          <p:nvPr/>
        </p:nvSpPr>
        <p:spPr>
          <a:xfrm>
            <a:off x="5166042" y="1057376"/>
            <a:ext cx="7226708" cy="9049266"/>
          </a:xfrm>
          <a:custGeom>
            <a:avLst/>
            <a:gdLst/>
            <a:ahLst/>
            <a:cxnLst/>
            <a:rect l="l" t="t" r="r" b="b"/>
            <a:pathLst>
              <a:path w="7226708" h="9049266">
                <a:moveTo>
                  <a:pt x="0" y="0"/>
                </a:moveTo>
                <a:lnTo>
                  <a:pt x="7226708" y="0"/>
                </a:lnTo>
                <a:lnTo>
                  <a:pt x="7226708" y="9049265"/>
                </a:lnTo>
                <a:lnTo>
                  <a:pt x="0" y="9049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60" t="-1118" r="-1360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SƠ ĐỒ MỨC PHÂN TÍCH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63187" y="9780586"/>
            <a:ext cx="15624814" cy="506468"/>
            <a:chOff x="0" y="0"/>
            <a:chExt cx="20833086" cy="6752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675344"/>
            </a:xfrm>
            <a:custGeom>
              <a:avLst/>
              <a:gdLst/>
              <a:ahLst/>
              <a:cxnLst/>
              <a:rect l="l" t="t" r="r" b="b"/>
              <a:pathLst>
                <a:path w="20833080" h="675344">
                  <a:moveTo>
                    <a:pt x="239522" y="0"/>
                  </a:moveTo>
                  <a:lnTo>
                    <a:pt x="20833080" y="0"/>
                  </a:lnTo>
                  <a:lnTo>
                    <a:pt x="20833080" y="658779"/>
                  </a:lnTo>
                  <a:lnTo>
                    <a:pt x="0" y="675344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743239" y="9846234"/>
            <a:ext cx="15544722" cy="377568"/>
            <a:chOff x="0" y="0"/>
            <a:chExt cx="20726296" cy="5034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503348"/>
            </a:xfrm>
            <a:custGeom>
              <a:avLst/>
              <a:gdLst/>
              <a:ahLst/>
              <a:cxnLst/>
              <a:rect l="l" t="t" r="r" b="b"/>
              <a:pathLst>
                <a:path w="20726273" h="503348">
                  <a:moveTo>
                    <a:pt x="0" y="0"/>
                  </a:moveTo>
                  <a:lnTo>
                    <a:pt x="20726273" y="0"/>
                  </a:lnTo>
                  <a:lnTo>
                    <a:pt x="20726273" y="503348"/>
                  </a:lnTo>
                  <a:lnTo>
                    <a:pt x="0" y="50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623" r="-73623" b="-357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9" name="Freeform 9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77927" y="2621142"/>
            <a:ext cx="18047396" cy="4279106"/>
            <a:chOff x="0" y="0"/>
            <a:chExt cx="24063195" cy="57054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063195" cy="5705474"/>
            </a:xfrm>
            <a:custGeom>
              <a:avLst/>
              <a:gdLst/>
              <a:ahLst/>
              <a:cxnLst/>
              <a:rect l="l" t="t" r="r" b="b"/>
              <a:pathLst>
                <a:path w="24063195" h="5705474">
                  <a:moveTo>
                    <a:pt x="0" y="0"/>
                  </a:moveTo>
                  <a:lnTo>
                    <a:pt x="24063195" y="0"/>
                  </a:lnTo>
                  <a:lnTo>
                    <a:pt x="24063195" y="5705474"/>
                  </a:lnTo>
                  <a:lnTo>
                    <a:pt x="0" y="570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24063195" cy="56483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288"/>
                </a:lnSpc>
              </a:pPr>
              <a:r>
                <a:rPr lang="en-US" sz="8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4. THIẾT KẾ HỆ THỐNG &amp; CSDL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5" y="9681643"/>
            <a:ext cx="15624814" cy="588716"/>
            <a:chOff x="0" y="0"/>
            <a:chExt cx="20833086" cy="7849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84953"/>
            </a:xfrm>
            <a:custGeom>
              <a:avLst/>
              <a:gdLst/>
              <a:ahLst/>
              <a:cxnLst/>
              <a:rect l="l" t="t" r="r" b="b"/>
              <a:pathLst>
                <a:path w="20833080" h="784953">
                  <a:moveTo>
                    <a:pt x="239522" y="0"/>
                  </a:moveTo>
                  <a:lnTo>
                    <a:pt x="20833080" y="0"/>
                  </a:lnTo>
                  <a:lnTo>
                    <a:pt x="20833080" y="765568"/>
                  </a:lnTo>
                  <a:lnTo>
                    <a:pt x="0" y="784953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/>
          <p:cNvSpPr/>
          <p:nvPr/>
        </p:nvSpPr>
        <p:spPr>
          <a:xfrm>
            <a:off x="4425777" y="1011656"/>
            <a:ext cx="9576356" cy="9070783"/>
          </a:xfrm>
          <a:custGeom>
            <a:avLst/>
            <a:gdLst/>
            <a:ahLst/>
            <a:cxnLst/>
            <a:rect l="l" t="t" r="r" b="b"/>
            <a:pathLst>
              <a:path w="9576356" h="9070783">
                <a:moveTo>
                  <a:pt x="0" y="0"/>
                </a:moveTo>
                <a:lnTo>
                  <a:pt x="9576356" y="0"/>
                </a:lnTo>
                <a:lnTo>
                  <a:pt x="9576356" y="9070783"/>
                </a:lnTo>
                <a:lnTo>
                  <a:pt x="0" y="9070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41" b="-74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SƠ ĐỒ MỨC THIẾT KẾ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5" y="9815241"/>
            <a:ext cx="15624814" cy="455118"/>
            <a:chOff x="0" y="0"/>
            <a:chExt cx="20833086" cy="6068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606822"/>
            </a:xfrm>
            <a:custGeom>
              <a:avLst/>
              <a:gdLst/>
              <a:ahLst/>
              <a:cxnLst/>
              <a:rect l="l" t="t" r="r" b="b"/>
              <a:pathLst>
                <a:path w="20833080" h="606822">
                  <a:moveTo>
                    <a:pt x="239522" y="0"/>
                  </a:moveTo>
                  <a:lnTo>
                    <a:pt x="20833080" y="0"/>
                  </a:lnTo>
                  <a:lnTo>
                    <a:pt x="20833080" y="591836"/>
                  </a:lnTo>
                  <a:lnTo>
                    <a:pt x="0" y="606822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Freeform 8"/>
          <p:cNvSpPr/>
          <p:nvPr/>
        </p:nvSpPr>
        <p:spPr>
          <a:xfrm>
            <a:off x="5217362" y="1011655"/>
            <a:ext cx="7778197" cy="9070783"/>
          </a:xfrm>
          <a:custGeom>
            <a:avLst/>
            <a:gdLst/>
            <a:ahLst/>
            <a:cxnLst/>
            <a:rect l="l" t="t" r="r" b="b"/>
            <a:pathLst>
              <a:path w="7778197" h="9070783">
                <a:moveTo>
                  <a:pt x="0" y="0"/>
                </a:moveTo>
                <a:lnTo>
                  <a:pt x="7778196" y="0"/>
                </a:lnTo>
                <a:lnTo>
                  <a:pt x="7778196" y="9070784"/>
                </a:lnTo>
                <a:lnTo>
                  <a:pt x="0" y="9070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THIẾT KẾ CƠ SỞ DỮ LIỆU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63187" y="9780586"/>
            <a:ext cx="15624814" cy="506468"/>
            <a:chOff x="0" y="0"/>
            <a:chExt cx="20833086" cy="6752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675344"/>
            </a:xfrm>
            <a:custGeom>
              <a:avLst/>
              <a:gdLst/>
              <a:ahLst/>
              <a:cxnLst/>
              <a:rect l="l" t="t" r="r" b="b"/>
              <a:pathLst>
                <a:path w="20833080" h="675344">
                  <a:moveTo>
                    <a:pt x="239522" y="0"/>
                  </a:moveTo>
                  <a:lnTo>
                    <a:pt x="20833080" y="0"/>
                  </a:lnTo>
                  <a:lnTo>
                    <a:pt x="20833080" y="658779"/>
                  </a:lnTo>
                  <a:lnTo>
                    <a:pt x="0" y="675344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743239" y="9846234"/>
            <a:ext cx="15544722" cy="377568"/>
            <a:chOff x="0" y="0"/>
            <a:chExt cx="20726296" cy="5034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503348"/>
            </a:xfrm>
            <a:custGeom>
              <a:avLst/>
              <a:gdLst/>
              <a:ahLst/>
              <a:cxnLst/>
              <a:rect l="l" t="t" r="r" b="b"/>
              <a:pathLst>
                <a:path w="20726273" h="503348">
                  <a:moveTo>
                    <a:pt x="0" y="0"/>
                  </a:moveTo>
                  <a:lnTo>
                    <a:pt x="20726273" y="0"/>
                  </a:lnTo>
                  <a:lnTo>
                    <a:pt x="20726273" y="503348"/>
                  </a:lnTo>
                  <a:lnTo>
                    <a:pt x="0" y="50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623" r="-73623" b="-357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9" name="Freeform 9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47777" y="2564610"/>
            <a:ext cx="14755830" cy="4279106"/>
            <a:chOff x="0" y="0"/>
            <a:chExt cx="19674440" cy="57054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674439" cy="5705474"/>
            </a:xfrm>
            <a:custGeom>
              <a:avLst/>
              <a:gdLst/>
              <a:ahLst/>
              <a:cxnLst/>
              <a:rect l="l" t="t" r="r" b="b"/>
              <a:pathLst>
                <a:path w="19674439" h="5705474">
                  <a:moveTo>
                    <a:pt x="0" y="0"/>
                  </a:moveTo>
                  <a:lnTo>
                    <a:pt x="19674439" y="0"/>
                  </a:lnTo>
                  <a:lnTo>
                    <a:pt x="19674439" y="5705474"/>
                  </a:lnTo>
                  <a:lnTo>
                    <a:pt x="0" y="570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9674440" cy="56483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720"/>
                </a:lnSpc>
              </a:pPr>
              <a:r>
                <a:rPr lang="en-US" sz="9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5. CÔNG NGHỆ &amp; </a:t>
              </a:r>
            </a:p>
            <a:p>
              <a:pPr algn="l">
                <a:lnSpc>
                  <a:spcPts val="9720"/>
                </a:lnSpc>
              </a:pPr>
              <a:r>
                <a:rPr lang="en-US" sz="9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MÔI TRƯỜNG CÀI ĐẶT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028700" y="3980062"/>
            <a:ext cx="5139841" cy="3415198"/>
            <a:chOff x="0" y="0"/>
            <a:chExt cx="1052050" cy="6990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2050" cy="699041"/>
            </a:xfrm>
            <a:custGeom>
              <a:avLst/>
              <a:gdLst/>
              <a:ahLst/>
              <a:cxnLst/>
              <a:rect l="l" t="t" r="r" b="b"/>
              <a:pathLst>
                <a:path w="1052050" h="699041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623728"/>
                  </a:lnTo>
                  <a:cubicBezTo>
                    <a:pt x="1052050" y="665322"/>
                    <a:pt x="1018332" y="699041"/>
                    <a:pt x="976737" y="699041"/>
                  </a:cubicBezTo>
                  <a:lnTo>
                    <a:pt x="75313" y="699041"/>
                  </a:lnTo>
                  <a:cubicBezTo>
                    <a:pt x="33719" y="699041"/>
                    <a:pt x="0" y="665322"/>
                    <a:pt x="0" y="623728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52050" cy="756191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l">
                <a:lnSpc>
                  <a:spcPts val="40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27484" y="4513512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603546" y="4472475"/>
            <a:ext cx="1011607" cy="10116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01151" y="3980062"/>
            <a:ext cx="5139841" cy="3415198"/>
            <a:chOff x="0" y="0"/>
            <a:chExt cx="1052050" cy="69904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52050" cy="699041"/>
            </a:xfrm>
            <a:custGeom>
              <a:avLst/>
              <a:gdLst/>
              <a:ahLst/>
              <a:cxnLst/>
              <a:rect l="l" t="t" r="r" b="b"/>
              <a:pathLst>
                <a:path w="1052050" h="699041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623728"/>
                  </a:lnTo>
                  <a:cubicBezTo>
                    <a:pt x="1052050" y="665322"/>
                    <a:pt x="1018332" y="699041"/>
                    <a:pt x="976737" y="699041"/>
                  </a:cubicBezTo>
                  <a:lnTo>
                    <a:pt x="75313" y="699041"/>
                  </a:lnTo>
                  <a:cubicBezTo>
                    <a:pt x="33719" y="699041"/>
                    <a:pt x="0" y="665322"/>
                    <a:pt x="0" y="623728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052050" cy="756191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l">
                <a:lnSpc>
                  <a:spcPts val="40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7199935" y="4513512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7175997" y="4472475"/>
            <a:ext cx="1011607" cy="101160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173603" y="3980062"/>
            <a:ext cx="5139841" cy="3415198"/>
            <a:chOff x="0" y="0"/>
            <a:chExt cx="1052050" cy="69904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52050" cy="699041"/>
            </a:xfrm>
            <a:custGeom>
              <a:avLst/>
              <a:gdLst/>
              <a:ahLst/>
              <a:cxnLst/>
              <a:rect l="l" t="t" r="r" b="b"/>
              <a:pathLst>
                <a:path w="1052050" h="699041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623728"/>
                  </a:lnTo>
                  <a:cubicBezTo>
                    <a:pt x="1052050" y="665322"/>
                    <a:pt x="1018332" y="699041"/>
                    <a:pt x="976737" y="699041"/>
                  </a:cubicBezTo>
                  <a:lnTo>
                    <a:pt x="75313" y="699041"/>
                  </a:lnTo>
                  <a:cubicBezTo>
                    <a:pt x="33719" y="699041"/>
                    <a:pt x="0" y="665322"/>
                    <a:pt x="0" y="623728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052050" cy="756191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l">
                <a:lnSpc>
                  <a:spcPts val="40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2772387" y="4513512"/>
            <a:ext cx="1026728" cy="1025445"/>
          </a:xfrm>
          <a:custGeom>
            <a:avLst/>
            <a:gdLst/>
            <a:ahLst/>
            <a:cxnLst/>
            <a:rect l="l" t="t" r="r" b="b"/>
            <a:pathLst>
              <a:path w="1026728" h="1025445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12748449" y="4472475"/>
            <a:ext cx="1011607" cy="101160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835479" y="4752364"/>
            <a:ext cx="547741" cy="547741"/>
          </a:xfrm>
          <a:custGeom>
            <a:avLst/>
            <a:gdLst/>
            <a:ahLst/>
            <a:cxnLst/>
            <a:rect l="l" t="t" r="r" b="b"/>
            <a:pathLst>
              <a:path w="547741" h="547741">
                <a:moveTo>
                  <a:pt x="0" y="0"/>
                </a:moveTo>
                <a:lnTo>
                  <a:pt x="547741" y="0"/>
                </a:lnTo>
                <a:lnTo>
                  <a:pt x="547741" y="547741"/>
                </a:lnTo>
                <a:lnTo>
                  <a:pt x="0" y="547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7492634" y="4610511"/>
            <a:ext cx="445334" cy="735536"/>
          </a:xfrm>
          <a:custGeom>
            <a:avLst/>
            <a:gdLst/>
            <a:ahLst/>
            <a:cxnLst/>
            <a:rect l="l" t="t" r="r" b="b"/>
            <a:pathLst>
              <a:path w="445334" h="735536">
                <a:moveTo>
                  <a:pt x="0" y="0"/>
                </a:moveTo>
                <a:lnTo>
                  <a:pt x="445333" y="0"/>
                </a:lnTo>
                <a:lnTo>
                  <a:pt x="445333" y="735536"/>
                </a:lnTo>
                <a:lnTo>
                  <a:pt x="0" y="7355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002608" y="4659355"/>
            <a:ext cx="503289" cy="637848"/>
          </a:xfrm>
          <a:custGeom>
            <a:avLst/>
            <a:gdLst/>
            <a:ahLst/>
            <a:cxnLst/>
            <a:rect l="l" t="t" r="r" b="b"/>
            <a:pathLst>
              <a:path w="503289" h="637848">
                <a:moveTo>
                  <a:pt x="0" y="0"/>
                </a:moveTo>
                <a:lnTo>
                  <a:pt x="503289" y="0"/>
                </a:lnTo>
                <a:lnTo>
                  <a:pt x="503289" y="637848"/>
                </a:lnTo>
                <a:lnTo>
                  <a:pt x="0" y="6378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5504967" y="-135255"/>
            <a:ext cx="12691595" cy="8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CÔNG NGHỆ SỬ DỤNG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51316" y="4427787"/>
            <a:ext cx="2063297" cy="55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2"/>
              </a:lnSpc>
              <a:spcBef>
                <a:spcPct val="0"/>
              </a:spcBef>
            </a:pPr>
            <a:r>
              <a:rPr lang="en-US" sz="3144" b="1">
                <a:solidFill>
                  <a:srgbClr val="07549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Website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51316" y="5069246"/>
            <a:ext cx="2453651" cy="156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ASP.NET Web Application (.NET Framework), Visual Studio 2019/2022.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23767" y="4427787"/>
            <a:ext cx="2063297" cy="55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2"/>
              </a:lnSpc>
              <a:spcBef>
                <a:spcPct val="0"/>
              </a:spcBef>
            </a:pPr>
            <a:r>
              <a:rPr lang="en-US" sz="3144" b="1">
                <a:solidFill>
                  <a:srgbClr val="07549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 App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23767" y="5069246"/>
            <a:ext cx="2661633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Flutter SDK (Cross-platform cho Android), Android Studio.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196219" y="4427787"/>
            <a:ext cx="2379537" cy="558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2"/>
              </a:lnSpc>
              <a:spcBef>
                <a:spcPct val="0"/>
              </a:spcBef>
            </a:pPr>
            <a:r>
              <a:rPr lang="en-US" sz="3144" b="1">
                <a:solidFill>
                  <a:srgbClr val="07549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Cơ sở dữ liệu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196219" y="5069246"/>
            <a:ext cx="2916493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F202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SQL Server 2019/2022, SQL Server Management Studio (SSMS).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63187" y="9780586"/>
            <a:ext cx="15624814" cy="506468"/>
            <a:chOff x="0" y="0"/>
            <a:chExt cx="20833086" cy="6752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675344"/>
            </a:xfrm>
            <a:custGeom>
              <a:avLst/>
              <a:gdLst/>
              <a:ahLst/>
              <a:cxnLst/>
              <a:rect l="l" t="t" r="r" b="b"/>
              <a:pathLst>
                <a:path w="20833080" h="675344">
                  <a:moveTo>
                    <a:pt x="239522" y="0"/>
                  </a:moveTo>
                  <a:lnTo>
                    <a:pt x="20833080" y="0"/>
                  </a:lnTo>
                  <a:lnTo>
                    <a:pt x="20833080" y="658779"/>
                  </a:lnTo>
                  <a:lnTo>
                    <a:pt x="0" y="675344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743239" y="9846234"/>
            <a:ext cx="15544722" cy="377568"/>
            <a:chOff x="0" y="0"/>
            <a:chExt cx="20726296" cy="5034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503348"/>
            </a:xfrm>
            <a:custGeom>
              <a:avLst/>
              <a:gdLst/>
              <a:ahLst/>
              <a:cxnLst/>
              <a:rect l="l" t="t" r="r" b="b"/>
              <a:pathLst>
                <a:path w="20726273" h="503348">
                  <a:moveTo>
                    <a:pt x="0" y="0"/>
                  </a:moveTo>
                  <a:lnTo>
                    <a:pt x="20726273" y="0"/>
                  </a:lnTo>
                  <a:lnTo>
                    <a:pt x="20726273" y="503348"/>
                  </a:lnTo>
                  <a:lnTo>
                    <a:pt x="0" y="50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623" r="-73623" b="-357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9" name="Freeform 9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47777" y="2564610"/>
            <a:ext cx="16011524" cy="4279106"/>
            <a:chOff x="0" y="0"/>
            <a:chExt cx="21348698" cy="570547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348698" cy="5705474"/>
            </a:xfrm>
            <a:custGeom>
              <a:avLst/>
              <a:gdLst/>
              <a:ahLst/>
              <a:cxnLst/>
              <a:rect l="l" t="t" r="r" b="b"/>
              <a:pathLst>
                <a:path w="21348698" h="5705474">
                  <a:moveTo>
                    <a:pt x="0" y="0"/>
                  </a:moveTo>
                  <a:lnTo>
                    <a:pt x="21348698" y="0"/>
                  </a:lnTo>
                  <a:lnTo>
                    <a:pt x="21348698" y="5705474"/>
                  </a:lnTo>
                  <a:lnTo>
                    <a:pt x="0" y="570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21348698" cy="56483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9720"/>
                </a:lnSpc>
              </a:pPr>
              <a:r>
                <a:rPr lang="en-US" sz="9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6. DEMO, KẾT LUẬN &amp; </a:t>
              </a:r>
            </a:p>
            <a:p>
              <a:pPr algn="l">
                <a:lnSpc>
                  <a:spcPts val="9720"/>
                </a:lnSpc>
              </a:pPr>
              <a:r>
                <a:rPr lang="en-US" sz="90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HƯỚNG PHÁT TRIỂN 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5" name="Freeform 5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1" r="-192" b="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647946" y="9722670"/>
            <a:ext cx="15624814" cy="547689"/>
            <a:chOff x="0" y="0"/>
            <a:chExt cx="20833086" cy="7302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833080" cy="730250"/>
            </a:xfrm>
            <a:custGeom>
              <a:avLst/>
              <a:gdLst/>
              <a:ahLst/>
              <a:cxnLst/>
              <a:rect l="l" t="t" r="r" b="b"/>
              <a:pathLst>
                <a:path w="20833080" h="730250">
                  <a:moveTo>
                    <a:pt x="239522" y="0"/>
                  </a:moveTo>
                  <a:lnTo>
                    <a:pt x="20833080" y="0"/>
                  </a:lnTo>
                  <a:lnTo>
                    <a:pt x="20833080" y="712216"/>
                  </a:lnTo>
                  <a:lnTo>
                    <a:pt x="0" y="730250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5504967" y="-135255"/>
            <a:ext cx="12691595" cy="1146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20"/>
              </a:lnSpc>
            </a:pPr>
            <a:r>
              <a:rPr lang="en-US" sz="4500" b="1">
                <a:solidFill>
                  <a:srgbClr val="FFDD1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KẾT LUẬN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994535"/>
            <a:ext cx="17412393" cy="6155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just">
              <a:lnSpc>
                <a:spcPts val="545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luận:</a:t>
            </a:r>
          </a:p>
          <a:p>
            <a:pPr marL="1511295" lvl="2" indent="-50376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xây dựng thành công Web và App bán hàng đầy đủ chức năng cơ bản.</a:t>
            </a:r>
          </a:p>
          <a:p>
            <a:pPr marL="1511295" lvl="2" indent="-50376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Giúp doanh nghiệp quản lý tồn kho, đơn hàng và khách hàng hiệu quả hơn.</a:t>
            </a:r>
          </a:p>
          <a:p>
            <a:pPr marL="755647" lvl="1" indent="-377824" algn="just">
              <a:lnSpc>
                <a:spcPts val="545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Hạn chế: Một số chức năng còn cơ bản do giới hạn thời gian.</a:t>
            </a:r>
          </a:p>
          <a:p>
            <a:pPr marL="755647" lvl="1" indent="-377824" algn="just">
              <a:lnSpc>
                <a:spcPts val="545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Hướng phát triển:</a:t>
            </a:r>
          </a:p>
          <a:p>
            <a:pPr marL="1511295" lvl="2" indent="-50376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 hợp AI gợi ý sản phẩm.</a:t>
            </a:r>
          </a:p>
          <a:p>
            <a:pPr marL="1511295" lvl="2" indent="-50376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 triển hệ thống tích điểm thành viên.</a:t>
            </a:r>
          </a:p>
          <a:p>
            <a:pPr marL="1511295" lvl="2" indent="-503765" algn="just">
              <a:lnSpc>
                <a:spcPts val="545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Nâng cao bảo mật (xác thực đa lớp) .</a:t>
            </a:r>
          </a:p>
          <a:p>
            <a:pPr marL="1433507" lvl="2" indent="-477836" algn="just">
              <a:lnSpc>
                <a:spcPts val="5459"/>
              </a:lnSpc>
            </a:pPr>
            <a:endParaRPr lang="en-US" sz="34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666"/>
            <a:ext cx="18288000" cy="1070042"/>
            <a:chOff x="0" y="0"/>
            <a:chExt cx="24384000" cy="14267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426718"/>
            </a:xfrm>
            <a:custGeom>
              <a:avLst/>
              <a:gdLst/>
              <a:ahLst/>
              <a:cxnLst/>
              <a:rect l="l" t="t" r="r" b="b"/>
              <a:pathLst>
                <a:path w="24384000" h="1426718">
                  <a:moveTo>
                    <a:pt x="0" y="0"/>
                  </a:moveTo>
                  <a:lnTo>
                    <a:pt x="24384000" y="0"/>
                  </a:lnTo>
                  <a:lnTo>
                    <a:pt x="24384000" y="1426718"/>
                  </a:lnTo>
                  <a:lnTo>
                    <a:pt x="0" y="1426718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2663187" y="9780586"/>
            <a:ext cx="15624814" cy="506468"/>
            <a:chOff x="0" y="0"/>
            <a:chExt cx="20833086" cy="6752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833080" cy="675344"/>
            </a:xfrm>
            <a:custGeom>
              <a:avLst/>
              <a:gdLst/>
              <a:ahLst/>
              <a:cxnLst/>
              <a:rect l="l" t="t" r="r" b="b"/>
              <a:pathLst>
                <a:path w="20833080" h="675344">
                  <a:moveTo>
                    <a:pt x="239522" y="0"/>
                  </a:moveTo>
                  <a:lnTo>
                    <a:pt x="20833080" y="0"/>
                  </a:lnTo>
                  <a:lnTo>
                    <a:pt x="20833080" y="658779"/>
                  </a:lnTo>
                  <a:lnTo>
                    <a:pt x="0" y="675344"/>
                  </a:lnTo>
                  <a:lnTo>
                    <a:pt x="239522" y="0"/>
                  </a:lnTo>
                  <a:close/>
                </a:path>
              </a:pathLst>
            </a:custGeom>
            <a:solidFill>
              <a:srgbClr val="2072B7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743239" y="9846234"/>
            <a:ext cx="15544722" cy="377568"/>
            <a:chOff x="0" y="0"/>
            <a:chExt cx="20726296" cy="5034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273" cy="503348"/>
            </a:xfrm>
            <a:custGeom>
              <a:avLst/>
              <a:gdLst/>
              <a:ahLst/>
              <a:cxnLst/>
              <a:rect l="l" t="t" r="r" b="b"/>
              <a:pathLst>
                <a:path w="20726273" h="503348">
                  <a:moveTo>
                    <a:pt x="0" y="0"/>
                  </a:moveTo>
                  <a:lnTo>
                    <a:pt x="20726273" y="0"/>
                  </a:lnTo>
                  <a:lnTo>
                    <a:pt x="20726273" y="503348"/>
                  </a:lnTo>
                  <a:lnTo>
                    <a:pt x="0" y="503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3623" r="-73623" b="-3574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477927" y="3336"/>
            <a:ext cx="4935600" cy="1027608"/>
            <a:chOff x="0" y="0"/>
            <a:chExt cx="6580800" cy="1370144"/>
          </a:xfrm>
        </p:grpSpPr>
        <p:sp>
          <p:nvSpPr>
            <p:cNvPr id="9" name="Freeform 9" descr="A black background with white text  Description automatically generated"/>
            <p:cNvSpPr/>
            <p:nvPr/>
          </p:nvSpPr>
          <p:spPr>
            <a:xfrm>
              <a:off x="0" y="0"/>
              <a:ext cx="6580759" cy="1370203"/>
            </a:xfrm>
            <a:custGeom>
              <a:avLst/>
              <a:gdLst/>
              <a:ahLst/>
              <a:cxnLst/>
              <a:rect l="l" t="t" r="r" b="b"/>
              <a:pathLst>
                <a:path w="6580759" h="1370203">
                  <a:moveTo>
                    <a:pt x="0" y="0"/>
                  </a:moveTo>
                  <a:lnTo>
                    <a:pt x="6580759" y="0"/>
                  </a:lnTo>
                  <a:lnTo>
                    <a:pt x="6580759" y="1370203"/>
                  </a:lnTo>
                  <a:lnTo>
                    <a:pt x="0" y="1370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2" b="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57300" y="3775302"/>
            <a:ext cx="15773400" cy="3588983"/>
            <a:chOff x="0" y="0"/>
            <a:chExt cx="21031200" cy="4785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031200" cy="4785311"/>
            </a:xfrm>
            <a:custGeom>
              <a:avLst/>
              <a:gdLst/>
              <a:ahLst/>
              <a:cxnLst/>
              <a:rect l="l" t="t" r="r" b="b"/>
              <a:pathLst>
                <a:path w="21031200" h="4785311">
                  <a:moveTo>
                    <a:pt x="0" y="0"/>
                  </a:moveTo>
                  <a:lnTo>
                    <a:pt x="21031200" y="0"/>
                  </a:lnTo>
                  <a:lnTo>
                    <a:pt x="21031200" y="4785311"/>
                  </a:lnTo>
                  <a:lnTo>
                    <a:pt x="0" y="47853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52425"/>
              <a:ext cx="21031200" cy="513773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4040"/>
                </a:lnSpc>
              </a:pPr>
              <a:r>
                <a:rPr lang="en-US" sz="9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CẢM THẦY VÀ CÁC BẠN ĐÃ LẮNG NGHE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944624" y="97329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886</Words>
  <Application>Microsoft Office PowerPoint</Application>
  <PresentationFormat>Custom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 Bold</vt:lpstr>
      <vt:lpstr>Noto Sans Bold</vt:lpstr>
      <vt:lpstr>Times New Roman Bold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GIỚI THIỆU</dc:title>
  <cp:lastModifiedBy>Admin</cp:lastModifiedBy>
  <cp:revision>2</cp:revision>
  <dcterms:created xsi:type="dcterms:W3CDTF">2006-08-16T00:00:00Z</dcterms:created>
  <dcterms:modified xsi:type="dcterms:W3CDTF">2025-12-12T00:34:48Z</dcterms:modified>
  <dc:identifier>DAG60YHGqAk</dc:identifier>
</cp:coreProperties>
</file>